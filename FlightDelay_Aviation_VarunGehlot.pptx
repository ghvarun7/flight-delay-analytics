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75" r:id="rId9"/>
    <p:sldId id="271" r:id="rId10"/>
    <p:sldId id="262" r:id="rId11"/>
    <p:sldId id="272" r:id="rId12"/>
    <p:sldId id="263" r:id="rId13"/>
    <p:sldId id="273" r:id="rId14"/>
    <p:sldId id="274" r:id="rId15"/>
    <p:sldId id="264" r:id="rId16"/>
    <p:sldId id="276" r:id="rId17"/>
    <p:sldId id="265" r:id="rId18"/>
    <p:sldId id="266" r:id="rId19"/>
    <p:sldId id="267" r:id="rId20"/>
    <p:sldId id="269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573CD0-C424-4B8D-9E95-A1451C4974D5}" v="2" dt="2026-04-20T21:46:25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Gehlot" userId="34e48355faa6a87a" providerId="LiveId" clId="{A36466CD-3E08-4853-B27C-1A61E69D958A}"/>
    <pc:docChg chg="custSel delSld modSld">
      <pc:chgData name="Varun Gehlot" userId="34e48355faa6a87a" providerId="LiveId" clId="{A36466CD-3E08-4853-B27C-1A61E69D958A}" dt="2026-04-20T21:48:48.632" v="125" actId="2696"/>
      <pc:docMkLst>
        <pc:docMk/>
      </pc:docMkLst>
      <pc:sldChg chg="modSp mod">
        <pc:chgData name="Varun Gehlot" userId="34e48355faa6a87a" providerId="LiveId" clId="{A36466CD-3E08-4853-B27C-1A61E69D958A}" dt="2026-04-20T21:29:48.603" v="110" actId="20577"/>
        <pc:sldMkLst>
          <pc:docMk/>
          <pc:sldMk cId="0" sldId="257"/>
        </pc:sldMkLst>
        <pc:spChg chg="mod">
          <ac:chgData name="Varun Gehlot" userId="34e48355faa6a87a" providerId="LiveId" clId="{A36466CD-3E08-4853-B27C-1A61E69D958A}" dt="2026-04-20T21:29:39.441" v="106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Varun Gehlot" userId="34e48355faa6a87a" providerId="LiveId" clId="{A36466CD-3E08-4853-B27C-1A61E69D958A}" dt="2026-04-20T21:29:48.603" v="110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Varun Gehlot" userId="34e48355faa6a87a" providerId="LiveId" clId="{A36466CD-3E08-4853-B27C-1A61E69D958A}" dt="2026-04-20T20:38:56.477" v="43" actId="1036"/>
        <pc:sldMkLst>
          <pc:docMk/>
          <pc:sldMk cId="0" sldId="259"/>
        </pc:sldMkLst>
        <pc:spChg chg="mod">
          <ac:chgData name="Varun Gehlot" userId="34e48355faa6a87a" providerId="LiveId" clId="{A36466CD-3E08-4853-B27C-1A61E69D958A}" dt="2026-04-20T20:38:56.477" v="43" actId="1036"/>
          <ac:spMkLst>
            <pc:docMk/>
            <pc:sldMk cId="0" sldId="259"/>
            <ac:spMk id="15" creationId="{00000000-0000-0000-0000-000000000000}"/>
          </ac:spMkLst>
        </pc:spChg>
      </pc:sldChg>
      <pc:sldChg chg="modSp mod">
        <pc:chgData name="Varun Gehlot" userId="34e48355faa6a87a" providerId="LiveId" clId="{A36466CD-3E08-4853-B27C-1A61E69D958A}" dt="2026-04-20T20:44:27.648" v="101" actId="20577"/>
        <pc:sldMkLst>
          <pc:docMk/>
          <pc:sldMk cId="0" sldId="260"/>
        </pc:sldMkLst>
        <pc:spChg chg="mod">
          <ac:chgData name="Varun Gehlot" userId="34e48355faa6a87a" providerId="LiveId" clId="{A36466CD-3E08-4853-B27C-1A61E69D958A}" dt="2026-04-20T20:44:27.648" v="101" actId="20577"/>
          <ac:spMkLst>
            <pc:docMk/>
            <pc:sldMk cId="0" sldId="260"/>
            <ac:spMk id="40" creationId="{00000000-0000-0000-0000-000000000000}"/>
          </ac:spMkLst>
        </pc:spChg>
      </pc:sldChg>
      <pc:sldChg chg="addSp delSp modSp mod">
        <pc:chgData name="Varun Gehlot" userId="34e48355faa6a87a" providerId="LiveId" clId="{A36466CD-3E08-4853-B27C-1A61E69D958A}" dt="2026-04-20T21:47:28.802" v="122" actId="1036"/>
        <pc:sldMkLst>
          <pc:docMk/>
          <pc:sldMk cId="0" sldId="265"/>
        </pc:sldMkLst>
        <pc:spChg chg="mod">
          <ac:chgData name="Varun Gehlot" userId="34e48355faa6a87a" providerId="LiveId" clId="{A36466CD-3E08-4853-B27C-1A61E69D958A}" dt="2026-04-20T21:47:28.802" v="122" actId="103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Varun Gehlot" userId="34e48355faa6a87a" providerId="LiveId" clId="{A36466CD-3E08-4853-B27C-1A61E69D958A}" dt="2026-04-20T21:46:38.791" v="118" actId="14100"/>
          <ac:spMkLst>
            <pc:docMk/>
            <pc:sldMk cId="0" sldId="265"/>
            <ac:spMk id="26" creationId="{00000000-0000-0000-0000-000000000000}"/>
          </ac:spMkLst>
        </pc:spChg>
        <pc:spChg chg="mod">
          <ac:chgData name="Varun Gehlot" userId="34e48355faa6a87a" providerId="LiveId" clId="{A36466CD-3E08-4853-B27C-1A61E69D958A}" dt="2026-04-20T21:46:56.550" v="120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Varun Gehlot" userId="34e48355faa6a87a" providerId="LiveId" clId="{A36466CD-3E08-4853-B27C-1A61E69D958A}" dt="2026-04-20T21:47:24.605" v="121" actId="27107"/>
          <ac:spMkLst>
            <pc:docMk/>
            <pc:sldMk cId="0" sldId="265"/>
            <ac:spMk id="31" creationId="{00000000-0000-0000-0000-000000000000}"/>
          </ac:spMkLst>
        </pc:spChg>
        <pc:spChg chg="add del mod">
          <ac:chgData name="Varun Gehlot" userId="34e48355faa6a87a" providerId="LiveId" clId="{A36466CD-3E08-4853-B27C-1A61E69D958A}" dt="2026-04-20T21:46:41.287" v="119" actId="478"/>
          <ac:spMkLst>
            <pc:docMk/>
            <pc:sldMk cId="0" sldId="265"/>
            <ac:spMk id="45" creationId="{77B84763-5569-4225-8E54-03B3B60F399A}"/>
          </ac:spMkLst>
        </pc:spChg>
      </pc:sldChg>
      <pc:sldChg chg="delSp del mod">
        <pc:chgData name="Varun Gehlot" userId="34e48355faa6a87a" providerId="LiveId" clId="{A36466CD-3E08-4853-B27C-1A61E69D958A}" dt="2026-04-20T21:48:48.632" v="125" actId="2696"/>
        <pc:sldMkLst>
          <pc:docMk/>
          <pc:sldMk cId="0" sldId="268"/>
        </pc:sldMkLst>
        <pc:spChg chg="del">
          <ac:chgData name="Varun Gehlot" userId="34e48355faa6a87a" providerId="LiveId" clId="{A36466CD-3E08-4853-B27C-1A61E69D958A}" dt="2026-04-20T21:47:57.790" v="123" actId="478"/>
          <ac:spMkLst>
            <pc:docMk/>
            <pc:sldMk cId="0" sldId="268"/>
            <ac:spMk id="36" creationId="{00000000-0000-0000-0000-000000000000}"/>
          </ac:spMkLst>
        </pc:spChg>
        <pc:spChg chg="del">
          <ac:chgData name="Varun Gehlot" userId="34e48355faa6a87a" providerId="LiveId" clId="{A36466CD-3E08-4853-B27C-1A61E69D958A}" dt="2026-04-20T21:47:57.790" v="123" actId="478"/>
          <ac:spMkLst>
            <pc:docMk/>
            <pc:sldMk cId="0" sldId="268"/>
            <ac:spMk id="38" creationId="{00000000-0000-0000-0000-000000000000}"/>
          </ac:spMkLst>
        </pc:spChg>
        <pc:spChg chg="del">
          <ac:chgData name="Varun Gehlot" userId="34e48355faa6a87a" providerId="LiveId" clId="{A36466CD-3E08-4853-B27C-1A61E69D958A}" dt="2026-04-20T21:47:57.790" v="123" actId="478"/>
          <ac:spMkLst>
            <pc:docMk/>
            <pc:sldMk cId="0" sldId="268"/>
            <ac:spMk id="40" creationId="{00000000-0000-0000-0000-000000000000}"/>
          </ac:spMkLst>
        </pc:spChg>
        <pc:spChg chg="del">
          <ac:chgData name="Varun Gehlot" userId="34e48355faa6a87a" providerId="LiveId" clId="{A36466CD-3E08-4853-B27C-1A61E69D958A}" dt="2026-04-20T21:48:00.774" v="124" actId="478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Varun Gehlot" userId="34e48355faa6a87a" providerId="LiveId" clId="{A36466CD-3E08-4853-B27C-1A61E69D958A}" dt="2026-04-20T20:40:13.677" v="54" actId="20577"/>
        <pc:sldMkLst>
          <pc:docMk/>
          <pc:sldMk cId="3460650837" sldId="270"/>
        </pc:sldMkLst>
        <pc:spChg chg="mod">
          <ac:chgData name="Varun Gehlot" userId="34e48355faa6a87a" providerId="LiveId" clId="{A36466CD-3E08-4853-B27C-1A61E69D958A}" dt="2026-04-20T20:40:13.677" v="54" actId="20577"/>
          <ac:spMkLst>
            <pc:docMk/>
            <pc:sldMk cId="3460650837" sldId="270"/>
            <ac:spMk id="4" creationId="{5C9DC70A-C5ED-4492-A615-C8F3152999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419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01412-7CC9-AEE4-F39A-1335186C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6D74A-5ACA-F268-0C91-61AD7D5F9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75408-F53E-8DC2-055F-F20048BE4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89AF0-1DC4-EB8E-4418-6FA5742949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59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E9D9-5014-D425-A080-3BA27BC8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3DD56-FB17-9C5C-156D-8710A7528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04E37-9B26-E260-1194-E45ACCF80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3DC5E-111D-F159-E221-11B2470C3B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94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575E-4C5D-99DF-7E21-1630A2D0C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57076-566E-EBD3-932E-9ECA6E885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15DB4-9070-3366-1895-AF6FA0E20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D2841-5D8A-E1E3-DD08-D3CA095586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78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803F7-A9C1-4F10-6DF0-4476A20D1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FBB89-ADB2-B6D0-DD22-9B8C79DEF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460F8-A88F-DDE6-0128-D9049ED95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E8A79-09B5-4D9A-0239-BCBE456275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45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75D60-8075-86CB-420E-846AD9E9B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225CD-26C8-9A87-E5B4-43273BDF1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F73AB-0F1C-D5CE-3408-507612CE6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32EA8-96C5-2A85-5A1E-FAEBA86FBA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16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F668F-82D2-8E34-36C5-81FBE4B10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0257A-06D8-DD2D-C760-F4F142E0A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CB79D-724D-6B5E-A7AE-4AFAA2262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E19CB-83B7-E8AA-67DF-CC29FB6FB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747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D6818-6314-4635-8553-247F3B7C2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E8799-C80E-D609-A4D3-C6E556460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2103D-3344-D172-DBA4-C8063D8A9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C19F9-57F8-BE89-08D5-98C267EAE6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4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657600"/>
            <a:ext cx="9144000" cy="2286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Analytics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Pipeline on AWS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320040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Gehlot  |  DAMG7370 Final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 Seattle  |  Spring 2026  |  April 20,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587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97,702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4407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Analyzed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38587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06040" y="4407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38587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4407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Accuracy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20840" y="38587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20840" y="4407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0" y="3931920"/>
            <a:ext cx="18288" cy="7772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3931920"/>
            <a:ext cx="18288" cy="7772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75120" y="3931920"/>
            <a:ext cx="18288" cy="7772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 &amp; Business Goals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02336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delays cost the U.S. economy $33B+ annually.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all domestic flights are delayed.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 to understand delay root causes.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lack pre-flight prediction tools.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86868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868680"/>
            <a:ext cx="40233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353312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Kafka streaming pipeline on AWS EC2.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lake + RDS PostgreSQL star schema.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dashboard with 8 charts.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predicting delays at 88.6% accuracy.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19659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255264"/>
            <a:ext cx="19659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25526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3255264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76732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100k records via Kafka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50592" y="320040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450592" y="3200400"/>
            <a:ext cx="19659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450592" y="3255264"/>
            <a:ext cx="19659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50592" y="325526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26080" y="3255264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60320" y="376732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lake + RDS star schema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26864" y="320040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26864" y="3200400"/>
            <a:ext cx="19659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26864" y="3255264"/>
            <a:ext cx="19659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26864" y="325526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02352" y="3255264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36592" y="376732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8-chart dashboard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320040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03136" y="3200400"/>
            <a:ext cx="19659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03136" y="3255264"/>
            <a:ext cx="19659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03136" y="325526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78624" y="3255264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12864" y="376732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delay classifier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896112"/>
            <a:ext cx="1920240" cy="54864"/>
          </a:xfrm>
          <a:prstGeom prst="rect">
            <a:avLst/>
          </a:prstGeom>
          <a:solidFill>
            <a:srgbClr val="6B7C8D"/>
          </a:solidFill>
          <a:ln w="12700">
            <a:solidFill>
              <a:srgbClr val="6B7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896112"/>
            <a:ext cx="1920240" cy="365760"/>
          </a:xfrm>
          <a:prstGeom prst="rect">
            <a:avLst/>
          </a:prstGeom>
          <a:solidFill>
            <a:srgbClr val="6B7C8D"/>
          </a:solidFill>
          <a:ln w="12700">
            <a:solidFill>
              <a:srgbClr val="6B7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961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Dataset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130759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flights.csv · 5.8M rows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48840" y="1581912"/>
            <a:ext cx="256032" cy="0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04872" y="896112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04872" y="896112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04872" y="896112"/>
            <a:ext cx="192024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04872" y="8961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04872" y="130759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Python · kafka-python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25112" y="1581912"/>
            <a:ext cx="256032" cy="0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81144" y="896112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81144" y="896112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81144" y="896112"/>
            <a:ext cx="192024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81144" y="8961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Kafka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81144" y="130759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 · flight-delays topic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01384" y="1581912"/>
            <a:ext cx="256032" cy="0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57416" y="896112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57416" y="896112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57416" y="896112"/>
            <a:ext cx="192024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57416" y="8961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57416" y="130759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writes to S3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2587752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2587752"/>
            <a:ext cx="19202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28600" y="2587752"/>
            <a:ext cx="1920240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28600" y="25877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raw/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" y="299923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flights_raw.csv · 100k rows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148840" y="3273552"/>
            <a:ext cx="256032" cy="0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404872" y="2587752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04872" y="2587752"/>
            <a:ext cx="19202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404872" y="2587752"/>
            <a:ext cx="1920240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404872" y="25877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· etl.py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04872" y="299923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IS_DELAYED flag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25112" y="3273552"/>
            <a:ext cx="256032" cy="0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81144" y="2587752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81144" y="2587752"/>
            <a:ext cx="19202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81144" y="2587752"/>
            <a:ext cx="1920240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81144" y="25877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processed/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81144" y="299923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flights_cleaned.csv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501384" y="3273552"/>
            <a:ext cx="256032" cy="0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757416" y="2587752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757416" y="2587752"/>
            <a:ext cx="192024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757416" y="2587752"/>
            <a:ext cx="192024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757416" y="25877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57416" y="2999232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· 4 tables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28600" y="768096"/>
            <a:ext cx="914400" cy="256032"/>
          </a:xfrm>
          <a:prstGeom prst="rect">
            <a:avLst/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28600" y="768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6CA8"/>
                </a:solidFill>
              </a:rPr>
              <a:t>INGEST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8600" y="2450592"/>
            <a:ext cx="914400" cy="256032"/>
          </a:xfrm>
          <a:prstGeom prst="rect">
            <a:avLst/>
          </a:prstGeom>
          <a:solidFill>
            <a:srgbClr val="E8F4FD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28600" y="24505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020"/>
                </a:solidFill>
              </a:rPr>
              <a:t>STORE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0" y="425196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200400" y="4251960"/>
            <a:ext cx="27432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200400" y="4251960"/>
            <a:ext cx="27432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00400" y="4251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1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+ ML Model  →  localhost:8501  |  88.6% accuracy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0" y="4096512"/>
            <a:ext cx="0" cy="155448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5120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1206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CA8"/>
                </a:solidFill>
              </a:rPr>
              <a:t>BTS Flight On-Time Performance Data - 2015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Bureau of Transportation Statistics / Kaggle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578MB raw CSV 5.8 million rows, full year 2015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records streamed via Kafka pipeline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97,702 clean records after ETL (2,298 dropped)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IS_DELAYED = 1 if ARRIVAL_DELAY &gt; 15 mins (FAA standard)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columns including delay breakdown by cause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868680"/>
            <a:ext cx="32004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0" y="868680"/>
            <a:ext cx="32004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</a:rPr>
              <a:t>Key Columns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1353312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AIRLINE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ORIGIN_AIRPORT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DESTINATION_AIRPORT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SCHEDULED_DEPARTURE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DEPARTURE_DELAY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ARRIVAL_DELAY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IS_DELAYED (derived)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WEATHER_DELAY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LATE_AIRCRAFT_DELAY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DISTANCE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AIR_TIME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886200"/>
            <a:ext cx="8595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8033" y="379264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FD4"/>
                </a:solidFill>
              </a:rPr>
              <a:t>Data Transformation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9319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F"/>
                </a:solidFill>
              </a:rPr>
              <a:t>Records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41330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</a:rPr>
              <a:t>5,800,000 rows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35254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9FD4"/>
                </a:solidFill>
              </a:rPr>
              <a:t>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5171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4FD"/>
                </a:solidFill>
              </a:rPr>
              <a:t>97,702 rows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14600" y="39319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F"/>
                </a:solidFill>
              </a:rPr>
              <a:t>Quality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14600" y="41330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</a:rPr>
              <a:t>Nulls present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14600" y="435254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9FD4"/>
                </a:solidFill>
              </a:rPr>
              <a:t>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14600" y="45171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4FD"/>
                </a:solidFill>
              </a:rPr>
              <a:t>Nulls removed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17720" y="39319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F"/>
                </a:solidFill>
              </a:rPr>
              <a:t>Target col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17720" y="41330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</a:rPr>
              <a:t>No delay flag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17720" y="435254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9FD4"/>
                </a:solidFill>
              </a:rPr>
              <a:t>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45171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4FD"/>
                </a:solidFill>
              </a:rPr>
              <a:t>IS_DELAYED = 0/1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39319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F"/>
                </a:solidFill>
              </a:rPr>
              <a:t>Delay cols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20840" y="41330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</a:rPr>
              <a:t>Raw delays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20840" y="435254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9FD4"/>
                </a:solidFill>
              </a:rPr>
              <a:t>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20840" y="45171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4FD"/>
                </a:solidFill>
              </a:rPr>
              <a:t>Validated + cleaned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Kafka Streaming Pipeline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192024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896112"/>
            <a:ext cx="192024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896112"/>
            <a:ext cx="38404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89611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FD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89611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EC2 Instance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1298448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t2.micro Ubuntu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Kafka 3.6.1 + ZooKeeper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Heap: -Xmx256M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1810512"/>
            <a:ext cx="256032" cy="0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04872" y="896112"/>
            <a:ext cx="192024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04872" y="896112"/>
            <a:ext cx="192024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04872" y="896112"/>
            <a:ext cx="38404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04872" y="89611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FD4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88920" y="89611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04872" y="1298448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Reads flights.csv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row by row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Sends to topic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25112" y="1810512"/>
            <a:ext cx="256032" cy="0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81144" y="896112"/>
            <a:ext cx="192024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81144" y="896112"/>
            <a:ext cx="192024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81144" y="896112"/>
            <a:ext cx="38404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81144" y="89611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FD4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65192" y="89611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Kafka Broker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81144" y="1298448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Port 9092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Buffers messages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flight-delays topic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01384" y="1810512"/>
            <a:ext cx="256032" cy="0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57416" y="896112"/>
            <a:ext cx="192024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57416" y="896112"/>
            <a:ext cx="192024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57416" y="896112"/>
            <a:ext cx="38404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57416" y="89611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FD4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41464" y="896112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Consumer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57416" y="1298448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Reads from topic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Batches 100k records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</a:rPr>
              <a:t>Writes to S3 raw/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28600" y="2926080"/>
            <a:ext cx="4206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3017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</a:rPr>
              <a:t>EC2 Configuration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3364992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Instance: i-019dff52eff788bfd  ·  Region: us-east-2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Public IP: 3.21.126.255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Ports: 22 (SSH) · 9092 (Kafka) · 2181 (ZooKeeper)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Heap tuned to -Xmx256M to fix OOM on free tier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0916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09160" y="2926080"/>
            <a:ext cx="42062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3017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</a:rPr>
              <a:t>Pipeline Results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3364992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100,000 records streamed successfully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Consumer wrote flights_raw.csv → S3 raw/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No data loss or offset errors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B1E6-E002-6627-FEEB-92687836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6EB6CD-819C-27E3-79FF-D1C289D18367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04A319-D217-4EAB-F578-2E877BF80072}"/>
              </a:ext>
            </a:extLst>
          </p:cNvPr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9DC70A-C5ED-4492-A615-C8F3152999CF}"/>
              </a:ext>
            </a:extLst>
          </p:cNvPr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- Live</a:t>
            </a:r>
            <a:endParaRPr lang="en-US" sz="2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C9D67E6-0A94-282D-BD99-41AE15B3AC9D}"/>
              </a:ext>
            </a:extLst>
          </p:cNvPr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4D5A47C-4E18-718C-0D96-B7607044BAA0}"/>
              </a:ext>
            </a:extLst>
          </p:cNvPr>
          <p:cNvSpPr/>
          <p:nvPr/>
        </p:nvSpPr>
        <p:spPr>
          <a:xfrm>
            <a:off x="631287" y="843944"/>
            <a:ext cx="7595382" cy="9390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492FB38-CA54-3116-6E9B-3FA03AF68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09" y="1043236"/>
            <a:ext cx="7309338" cy="393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50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Lake Structure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01168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868680"/>
            <a:ext cx="8275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Bucket:  flight-delay-analytics-varun  (us-east-2)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27048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527048"/>
            <a:ext cx="265176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527048"/>
            <a:ext cx="265176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5270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📁  raw/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011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flights_raw.csv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4871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100,000 records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626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Unprocessed Kafka 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438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Written by consumer.py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4680" y="1527048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54680" y="1527048"/>
            <a:ext cx="26517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54680" y="1527048"/>
            <a:ext cx="265176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54680" y="15270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📁  processed/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2011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flights_cleaned.csv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24871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97,702 records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29626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Nulls removed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438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IS_DELAYED column added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1527048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35040" y="1527048"/>
            <a:ext cx="265176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1527048"/>
            <a:ext cx="26517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15270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📁  scripts/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2011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producer.py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24871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consumer.py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29626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etl.py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3438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build_star_schema.py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7F2C-B080-F288-9658-9D8D59DD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590DFC-3732-8E9B-8DE3-A9EAC91795BB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FD8310-6EBF-C138-3DD6-AE56233211EE}"/>
              </a:ext>
            </a:extLst>
          </p:cNvPr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23D160-0015-8631-280B-170BA7E28861}"/>
              </a:ext>
            </a:extLst>
          </p:cNvPr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2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A1A7F6F-4825-B6ED-13FE-18B3656B4281}"/>
              </a:ext>
            </a:extLst>
          </p:cNvPr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27985FB-98FA-ECCB-5E9B-7E236F420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81" y="766404"/>
            <a:ext cx="7526038" cy="407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21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FE937-0946-5329-B793-98A1BE579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7077A6BF-1599-EFED-B44D-C85F49FEDABA}"/>
              </a:ext>
            </a:extLst>
          </p:cNvPr>
          <p:cNvSpPr/>
          <p:nvPr/>
        </p:nvSpPr>
        <p:spPr>
          <a:xfrm>
            <a:off x="21097" y="0"/>
            <a:ext cx="2325036" cy="250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Bucket: Live Evidence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065203D-B468-A34D-5E18-E376E147E4CB}"/>
              </a:ext>
            </a:extLst>
          </p:cNvPr>
          <p:cNvSpPr/>
          <p:nvPr/>
        </p:nvSpPr>
        <p:spPr>
          <a:xfrm>
            <a:off x="51583" y="50292"/>
            <a:ext cx="1064459" cy="20058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81CB756-AC20-69DA-7D8F-91E6C553CE84}"/>
              </a:ext>
            </a:extLst>
          </p:cNvPr>
          <p:cNvSpPr/>
          <p:nvPr/>
        </p:nvSpPr>
        <p:spPr>
          <a:xfrm>
            <a:off x="51583" y="30026"/>
            <a:ext cx="1064459" cy="200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📁  raw/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6957836-034B-D038-7C53-D2FAA0AE434C}"/>
              </a:ext>
            </a:extLst>
          </p:cNvPr>
          <p:cNvSpPr/>
          <p:nvPr/>
        </p:nvSpPr>
        <p:spPr>
          <a:xfrm>
            <a:off x="7651226" y="1991935"/>
            <a:ext cx="1384924" cy="20058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7AC358E-9C21-F53A-3A50-BA6CE372F63C}"/>
              </a:ext>
            </a:extLst>
          </p:cNvPr>
          <p:cNvSpPr/>
          <p:nvPr/>
        </p:nvSpPr>
        <p:spPr>
          <a:xfrm>
            <a:off x="7651226" y="1991935"/>
            <a:ext cx="1384923" cy="200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📁  processed/</a:t>
            </a:r>
            <a:endParaRPr lang="en-US" sz="14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BE861FF-00CA-4546-EC99-AEADA4E64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3" y="336219"/>
            <a:ext cx="4574643" cy="257696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BADACA6-0BBF-9550-2E59-1003A14D7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508" y="2261978"/>
            <a:ext cx="4574642" cy="288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64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Data Cleaning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2651760" cy="4023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9611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Extract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Read flights_raw.csv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from S3 raw/ via boto3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pandas.read_csv()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901952"/>
            <a:ext cx="228600" cy="0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896112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896112"/>
            <a:ext cx="2651760" cy="40233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89611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Transform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54680" y="137160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Drop null critical cols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Create IS_DELAYED flag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Fill delay NaN → 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1901952"/>
            <a:ext cx="228600" cy="0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896112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896112"/>
            <a:ext cx="265176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89611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Load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35040" y="137160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Write flights_cleaned.csv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to S3 processed/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Load → RDS fact_flights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" y="3090672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2880" y="3090672"/>
            <a:ext cx="16002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" y="3145536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6CA8"/>
                </a:solidFill>
              </a:rPr>
              <a:t>100,000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2880" y="369417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Records 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47672" y="3090672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947672" y="3090672"/>
            <a:ext cx="1600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47672" y="3145536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</a:rPr>
              <a:t>2,298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947672" y="369417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Records dropped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12464" y="3090672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712464" y="3090672"/>
            <a:ext cx="16002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12464" y="3145536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6CA8"/>
                </a:solidFill>
              </a:rPr>
              <a:t>97,702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712464" y="369417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Records out (clean)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77256" y="3090672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77256" y="3090672"/>
            <a:ext cx="1600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77256" y="3145536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</a:rPr>
              <a:t>33,608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77256" y="369417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Delayed (34.4%)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42048" y="3090672"/>
            <a:ext cx="1600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42048" y="3090672"/>
            <a:ext cx="1600200" cy="54864"/>
          </a:xfrm>
          <a:prstGeom prst="rect">
            <a:avLst/>
          </a:prstGeom>
          <a:solidFill>
            <a:srgbClr val="6B7C8D"/>
          </a:solidFill>
          <a:ln w="12700">
            <a:solidFill>
              <a:srgbClr val="6B7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42048" y="3145536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C8D"/>
                </a:solidFill>
              </a:rPr>
              <a:t>91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242048" y="369417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Cancelled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462272"/>
            <a:ext cx="85953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46227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FD4"/>
                </a:solidFill>
              </a:rPr>
              <a:t>IS_DELAYED Rule:  ARRIVAL_DELAY &gt; 15 minutes  →  IS_DELAYED = 1     |     Otherwise  →  IS_DELAYED = 0     (FAA industry standard)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4E04-5DC5-5769-0C18-E57DA7249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7B601A-6255-64AD-C0AF-FA18FEA73CDB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C380C6-F74C-772D-2249-729AC412DF76}"/>
              </a:ext>
            </a:extLst>
          </p:cNvPr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41F04C-BE5B-20AA-60A1-04F9AABDE324}"/>
              </a:ext>
            </a:extLst>
          </p:cNvPr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2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CB8CDC7-F215-5CBD-D69C-797277356E7B}"/>
              </a:ext>
            </a:extLst>
          </p:cNvPr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EC2098D-4378-15C0-B3EF-0537C94F11E2}"/>
              </a:ext>
            </a:extLst>
          </p:cNvPr>
          <p:cNvSpPr/>
          <p:nvPr/>
        </p:nvSpPr>
        <p:spPr>
          <a:xfrm>
            <a:off x="650632" y="754380"/>
            <a:ext cx="7889630" cy="3274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2CC41F5-C776-D92C-F805-8FCA57139843}"/>
              </a:ext>
            </a:extLst>
          </p:cNvPr>
          <p:cNvSpPr/>
          <p:nvPr/>
        </p:nvSpPr>
        <p:spPr>
          <a:xfrm>
            <a:off x="2091162" y="754380"/>
            <a:ext cx="4961675" cy="179828"/>
          </a:xfrm>
          <a:prstGeom prst="rect">
            <a:avLst/>
          </a:prstGeom>
          <a:solidFill>
            <a:srgbClr val="6B7C8D"/>
          </a:solidFill>
          <a:ln w="12700">
            <a:solidFill>
              <a:srgbClr val="6B7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731461E-2D9F-DD71-D5D8-469D0C2BD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15" y="1114956"/>
            <a:ext cx="7655170" cy="276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8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&amp; Database Load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108960" y="1645920"/>
            <a:ext cx="2926080" cy="2286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08960" y="1645920"/>
            <a:ext cx="292608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16459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fact_flights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084832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97,702 rows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ARRIVAL_DELAY · DEPARTURE_DELAY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DISTANCE · AIR_TIME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IS_DELAYED · CANCELLED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</a:rPr>
              <a:t>AIRLINE · ORIGIN · DESTINATION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82296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822960"/>
            <a:ext cx="2560320" cy="34747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" y="822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dim_airline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14 rows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airline_code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airline_name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315468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3154680"/>
            <a:ext cx="2560320" cy="34747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2880" y="3154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dim_airport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" y="355701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312 rows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airport_code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airport_name · city · state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2560320" cy="34747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920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dim_date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32257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7 rows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date_key · full_date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month_name · day_name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season · is_weekend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1536192"/>
            <a:ext cx="365760" cy="502920"/>
          </a:xfrm>
          <a:prstGeom prst="line">
            <a:avLst/>
          </a:prstGeom>
          <a:noFill/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0" y="3886200"/>
            <a:ext cx="365760" cy="0"/>
          </a:xfrm>
          <a:prstGeom prst="line">
            <a:avLst/>
          </a:prstGeom>
          <a:noFill/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2788920"/>
            <a:ext cx="182880" cy="0"/>
          </a:xfrm>
          <a:prstGeom prst="line">
            <a:avLst/>
          </a:prstGeom>
          <a:noFill/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F0DA1-9825-DBA2-6D8A-F831B50FA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B1A194-2887-B5FD-9911-00FCA85199DD}"/>
              </a:ext>
            </a:extLst>
          </p:cNvPr>
          <p:cNvSpPr/>
          <p:nvPr/>
        </p:nvSpPr>
        <p:spPr>
          <a:xfrm>
            <a:off x="0" y="0"/>
            <a:ext cx="9144000" cy="392723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7ED8693-FED0-7095-1B81-88C349146AA1}"/>
              </a:ext>
            </a:extLst>
          </p:cNvPr>
          <p:cNvSpPr/>
          <p:nvPr/>
        </p:nvSpPr>
        <p:spPr>
          <a:xfrm>
            <a:off x="0" y="0"/>
            <a:ext cx="201168" cy="44846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7E2D3A-9826-B3F8-2E22-4503DC829E3E}"/>
              </a:ext>
            </a:extLst>
          </p:cNvPr>
          <p:cNvSpPr/>
          <p:nvPr/>
        </p:nvSpPr>
        <p:spPr>
          <a:xfrm>
            <a:off x="365760" y="0"/>
            <a:ext cx="8412480" cy="392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2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11133D7-3AEE-5E6F-017E-3391FE37675E}"/>
              </a:ext>
            </a:extLst>
          </p:cNvPr>
          <p:cNvSpPr/>
          <p:nvPr/>
        </p:nvSpPr>
        <p:spPr>
          <a:xfrm>
            <a:off x="0" y="398174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2B394B7-318A-B215-DC18-2AB2F57DE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" y="1274060"/>
            <a:ext cx="9016587" cy="259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00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E75B2-6430-F5BE-290A-B48847CF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8B0371-8A65-1095-BFE9-4D2F7DBE6CBE}"/>
              </a:ext>
            </a:extLst>
          </p:cNvPr>
          <p:cNvSpPr/>
          <p:nvPr/>
        </p:nvSpPr>
        <p:spPr>
          <a:xfrm>
            <a:off x="0" y="0"/>
            <a:ext cx="9144000" cy="392723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B62D3E-E7DE-EA29-14C9-AD2CDD05C456}"/>
              </a:ext>
            </a:extLst>
          </p:cNvPr>
          <p:cNvSpPr/>
          <p:nvPr/>
        </p:nvSpPr>
        <p:spPr>
          <a:xfrm>
            <a:off x="0" y="0"/>
            <a:ext cx="201168" cy="44846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503CAB-68A2-420A-D617-EFA470603D2B}"/>
              </a:ext>
            </a:extLst>
          </p:cNvPr>
          <p:cNvSpPr/>
          <p:nvPr/>
        </p:nvSpPr>
        <p:spPr>
          <a:xfrm>
            <a:off x="365760" y="0"/>
            <a:ext cx="8412480" cy="392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2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7500EE-4B84-6E25-DD6C-C145607B26AF}"/>
              </a:ext>
            </a:extLst>
          </p:cNvPr>
          <p:cNvSpPr/>
          <p:nvPr/>
        </p:nvSpPr>
        <p:spPr>
          <a:xfrm>
            <a:off x="0" y="398174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9CCF4E-700C-87B4-629B-FD7D9FCE4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07" y="553561"/>
            <a:ext cx="8094785" cy="433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18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  ·  3 sections  ·  8 interactive charts  ·  queries live from RDS PostgreSQL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69748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269748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105156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1: Flight Delay Trends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150876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Delay rate by airline (American Eagle: 56.4%)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Avg arrival delay by airline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Delay rate by day of week (Sunday: 48%)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Delay rate by departure hour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36392" y="105156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36392" y="1051560"/>
            <a:ext cx="26974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36392" y="1051560"/>
            <a:ext cx="269748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36392" y="105156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2: Operational Analysis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50876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Top 10 most delayed origin airports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Delay causes: Late Aircraft #1 (900k mins)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Top 10 worst routes (JFK→EGE: 199 min)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Weekend 45.9% vs Weekday 29%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44184" y="105156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051560"/>
            <a:ext cx="269748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44184" y="1051560"/>
            <a:ext cx="26974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44184" y="105156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Section 3: What-If Predictor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53912" y="150876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Model KPIs: 88.63% accuracy, 82.95% F1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Feature importance chart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Pick airline, route, day, time of day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Live delay probability gauge (green/red)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872A9-5A4F-747B-37FE-9568E9B38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8ADD82-5CED-8825-0676-585EFEDADA9A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2599FC-0D13-FAF1-F967-87B4DDC484EF}"/>
              </a:ext>
            </a:extLst>
          </p:cNvPr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ABE68D-4740-E4C2-A6F3-9CD73F24658E}"/>
              </a:ext>
            </a:extLst>
          </p:cNvPr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- Demo</a:t>
            </a:r>
            <a:endParaRPr lang="en-US" sz="2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BB7C408-3D6E-EE61-FDF7-BEC3A1D03E36}"/>
              </a:ext>
            </a:extLst>
          </p:cNvPr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DA5250-8AC6-AFE8-5C00-5759F8807FEF}"/>
              </a:ext>
            </a:extLst>
          </p:cNvPr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  ·  3 sections  ·  8 interactive charts  ·  queries live from RDS PostgreSQL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93FC9B-D264-8F23-4E4D-73EA8BE95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4" y="1010412"/>
            <a:ext cx="3003195" cy="170134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4533084-48A7-83A6-BBA4-C8EE2D873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912" y="987552"/>
            <a:ext cx="3003195" cy="172420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62E95ED-81DC-2C38-3151-53EA55771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461" y="987551"/>
            <a:ext cx="2896176" cy="172420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29" name="Shape 17">
            <a:extLst>
              <a:ext uri="{FF2B5EF4-FFF2-40B4-BE49-F238E27FC236}">
                <a16:creationId xmlns:a16="http://schemas.microsoft.com/office/drawing/2014/main" id="{EDC85AAC-6D6A-570D-1619-71438AC1C40F}"/>
              </a:ext>
            </a:extLst>
          </p:cNvPr>
          <p:cNvSpPr/>
          <p:nvPr/>
        </p:nvSpPr>
        <p:spPr>
          <a:xfrm>
            <a:off x="143070" y="2757473"/>
            <a:ext cx="8801878" cy="45719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4838800-6CAD-1872-2493-A1760DAD9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28" y="2982280"/>
            <a:ext cx="3006329" cy="170134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E14A367-034F-8DB9-C09C-7CD5CF0B68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5073" y="2982279"/>
            <a:ext cx="3007931" cy="1701341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152938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- Delay Prediction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19202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8961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FD4"/>
                </a:solidFill>
              </a:rPr>
              <a:t>88.63%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8BF"/>
                </a:solidFill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04872" y="868680"/>
            <a:ext cx="19202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04872" y="8961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FD4"/>
                </a:solidFill>
              </a:rPr>
              <a:t>85.65%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04872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8BF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81144" y="868680"/>
            <a:ext cx="19202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81144" y="8961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FD4"/>
                </a:solidFill>
              </a:rPr>
              <a:t>80.42%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81144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8BF"/>
                </a:solidFill>
              </a:rPr>
              <a:t>Recall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57416" y="868680"/>
            <a:ext cx="1920240" cy="1143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6CA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57416" y="8961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FD4"/>
                </a:solidFill>
              </a:rPr>
              <a:t>82.95%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57416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8BF"/>
                </a:solidFill>
              </a:rPr>
              <a:t>F1 Score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2194560"/>
            <a:ext cx="41605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" y="2194560"/>
            <a:ext cx="416052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30428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</a:rPr>
              <a:t>Model Configuration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265176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Algorithm: Random Forest Classifier (scikit-learn)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n_estimators: 100 trees  ·  max_depth: 12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class_weight: balanced (handles 66/34 imbalance)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Train/Test: 80/20 stratified split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Train: 78,161 rows  |  Test: 19,541 rows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200780"/>
            <a:ext cx="42519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2194560"/>
            <a:ext cx="425196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3042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</a:rPr>
              <a:t>Feature Importance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Departure Delay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2734056"/>
            <a:ext cx="2333275" cy="19619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13258" y="26791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81.5%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3035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Day of Week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3072384"/>
            <a:ext cx="137160" cy="182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18504" y="30358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3.9%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33741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Air Time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3410712"/>
            <a:ext cx="118872" cy="182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00216" y="33741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3.4%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3712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Distance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26480" y="3749040"/>
            <a:ext cx="109728" cy="182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91072" y="37124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3.1%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4050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Origin Airport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4087368"/>
            <a:ext cx="109728" cy="182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91072" y="40507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3.1%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Airline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26480" y="4425696"/>
            <a:ext cx="91440" cy="182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72784" y="43891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2.6%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6CA8"/>
                </a:solidFill>
              </a:rPr>
              <a:t>Confusion Matrix:  11,913 True On-Time  ·  5,406 True Delayed  ·  906 False Alarms  ·  1,316 Missed Delays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</a:rPr>
              <a:t>34.4%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Overall delay rate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" y="19019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33,608 of 97,702 flights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04872" y="822960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04872" y="8229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04872" y="8229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04872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</a:rPr>
              <a:t>American Eagle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04872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Worst airline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04872" y="19019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56.4% delay rate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81144" y="822960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81144" y="8229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81144" y="8229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81144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</a:rPr>
              <a:t>ILG Airport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81144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Most delayed origin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81144" y="19019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100% delay rate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57416" y="822960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57416" y="8229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57416" y="8229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57416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</a:rPr>
              <a:t>199 min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57416" y="15361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Worst route avg delay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57416" y="19019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JFK → EGE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" y="2880360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28600" y="28803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8600" y="28803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8600" y="2971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</a:rPr>
              <a:t>45.9% vs 29%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28600" y="3593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Weekend vs Weekday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28600" y="39593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Weekends significantly worse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04872" y="2880360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404872" y="28803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404872" y="28803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404872" y="2971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</a:rPr>
              <a:t>Late Aircraft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404872" y="3593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#1 delay cause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404872" y="39593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900,754 total mins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81144" y="2880360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81144" y="28803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81144" y="28803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81144" y="2971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</a:rPr>
              <a:t>Sunday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81144" y="3593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Worst day of week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81144" y="39593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48% vs 21% Thursday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757416" y="2880360"/>
            <a:ext cx="1920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757416" y="28803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757416" y="2880360"/>
            <a:ext cx="192024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757416" y="2971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</a:rPr>
              <a:t>81.5%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757416" y="35935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3E50"/>
                </a:solidFill>
              </a:rPr>
              <a:t>Top ML feature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757416" y="39593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C8D"/>
                </a:solidFill>
              </a:rPr>
              <a:t>Departure delay dominates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 &amp; Known Limitations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502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✅  What's Working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38862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Kafka pipeline end-to-end (Producer → EC2 → Consumer)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S3 data lake raw/ and processed/ zones populated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ETL cleans 97,702 records and loads to RDS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Star schema 4 tables loaded in RDS PostgreSQL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C3E50"/>
                </a:solidFill>
              </a:rPr>
              <a:t>Streamlit</a:t>
            </a:r>
            <a:r>
              <a:rPr lang="en-US" sz="1150" dirty="0">
                <a:solidFill>
                  <a:srgbClr val="2C3E50"/>
                </a:solidFill>
              </a:rPr>
              <a:t> dashboard live at localhost:8501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All 8 charts rendering with real RDS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Random Forest: 88.63% accuracy, F1 82.95%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What-If predictor with live probability gauge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76200" dist="25400" dir="8100000" algn="bl" rotWithShape="0">
              <a:srgbClr val="0A162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148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932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</a:rPr>
              <a:t>⚠️  Known Limitations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325880"/>
            <a:ext cx="38862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100k sample from January 2015 only (winter data)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No weather data enrichment from NOAA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dim_airport has no city/state detail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EC2 Kafka needs manual restart after reboot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Dashboard runs locally not cloud deployed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ML departure delay signal may overfit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Solo project reduced depth vs team projects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657600"/>
            <a:ext cx="9144000" cy="20116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0040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9FD4"/>
                </a:solidFill>
              </a:rPr>
              <a:t>Flight Delay Analytics: End-to-End AWS Data Engineering Pipeline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BF"/>
                </a:solidFill>
              </a:rPr>
              <a:t>Varun Gehlot  ·  DAMG7370  ·  Northeastern University Seattle  ·  Spring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828800" cy="960120"/>
          </a:xfrm>
          <a:prstGeom prst="rect">
            <a:avLst/>
          </a:prstGeom>
          <a:solidFill>
            <a:srgbClr val="0D2240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587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9FD4"/>
                </a:solidFill>
              </a:rPr>
              <a:t>97,702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F"/>
                </a:solidFill>
              </a:rPr>
              <a:t>Records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2560320"/>
            <a:ext cx="1828800" cy="960120"/>
          </a:xfrm>
          <a:prstGeom prst="rect">
            <a:avLst/>
          </a:prstGeom>
          <a:solidFill>
            <a:srgbClr val="0D2240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2587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9FD4"/>
                </a:solidFill>
              </a:rPr>
              <a:t>88.6%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14600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F"/>
                </a:solidFill>
              </a:rPr>
              <a:t>ML Accuracy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560320"/>
            <a:ext cx="1828800" cy="960120"/>
          </a:xfrm>
          <a:prstGeom prst="rect">
            <a:avLst/>
          </a:prstGeom>
          <a:solidFill>
            <a:srgbClr val="0D2240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2587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9FD4"/>
                </a:solidFill>
              </a:rPr>
              <a:t>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F"/>
                </a:solidFill>
              </a:rPr>
              <a:t>AWS Services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9400" y="2560320"/>
            <a:ext cx="1828800" cy="960120"/>
          </a:xfrm>
          <a:prstGeom prst="rect">
            <a:avLst/>
          </a:prstGeom>
          <a:solidFill>
            <a:srgbClr val="0D2240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9400" y="2587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9FD4"/>
                </a:solidFill>
              </a:rPr>
              <a:t>8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29400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F"/>
                </a:solidFill>
              </a:rPr>
              <a:t>Charts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🔗 https://github.com/GhVarun7   ·   📧  gehlot.v@northeastern.edu   ·   Questions Welcome!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CSV → Kafka → EC2 → S3 → ETL → RDS PostgreSQL → </a:t>
            </a:r>
            <a:r>
              <a:rPr lang="en-US" sz="1000">
                <a:solidFill>
                  <a:srgbClr val="E8F4FD"/>
                </a:solidFill>
              </a:rPr>
              <a:t>Streamlit</a:t>
            </a:r>
            <a:r>
              <a:rPr lang="en-US" sz="1000" dirty="0">
                <a:solidFill>
                  <a:srgbClr val="E8F4FD"/>
                </a:solidFill>
              </a:rPr>
              <a:t> + Random Forest 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1313</Words>
  <Application>Microsoft Office PowerPoint</Application>
  <PresentationFormat>On-screen Show (16:9)</PresentationFormat>
  <Paragraphs>316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Delay Analytics — DAMG7370</dc:title>
  <dc:subject>PptxGenJS Presentation</dc:subject>
  <dc:creator>Varun Gehlot</dc:creator>
  <cp:lastModifiedBy>Varun Gehlot</cp:lastModifiedBy>
  <cp:revision>2</cp:revision>
  <dcterms:created xsi:type="dcterms:W3CDTF">2026-04-20T19:07:33Z</dcterms:created>
  <dcterms:modified xsi:type="dcterms:W3CDTF">2026-04-20T21:48:59Z</dcterms:modified>
</cp:coreProperties>
</file>